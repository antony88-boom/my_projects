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6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58" r:id="rId4"/>
    <p:sldId id="259" r:id="rId5"/>
    <p:sldId id="272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268" autoAdjust="0"/>
  </p:normalViewPr>
  <p:slideViewPr>
    <p:cSldViewPr snapToObjects="1">
      <p:cViewPr varScale="1">
        <p:scale>
          <a:sx n="101" d="100"/>
          <a:sy n="101" d="100"/>
        </p:scale>
        <p:origin x="138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>
            <a:extLst>
              <a:ext uri="{FF2B5EF4-FFF2-40B4-BE49-F238E27FC236}">
                <a16:creationId xmlns:a16="http://schemas.microsoft.com/office/drawing/2014/main" id="{2C1CF9B8-925A-3EA3-2602-E4D53576FC9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710FDAB2-CFB0-08BC-B453-9B91D03715D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8F58EE-E3C7-4DE6-B7B1-D9A3FBF0B55B}" type="datetimeFigureOut">
              <a:rPr lang="el-GR" smtClean="0"/>
              <a:t>6/7/2026</a:t>
            </a:fld>
            <a:endParaRPr lang="el-GR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1BFE161C-2826-A236-5E2D-E5297FB99E6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1C2A5108-F85D-D217-19D4-27BF01FC2FB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5479FB-EA29-4DC1-A8B3-9683A135EB7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647859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132D51-9DFE-4EE5-821F-BAA920C964CB}" type="datetimeFigureOut">
              <a:rPr lang="el-GR" smtClean="0"/>
              <a:t>6/7/2026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5EDB84-9382-4DFA-98D4-0ACAD612197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62011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Καλημέρα σας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endParaRPr lang="el-G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σήμερα θα σας παρουσιάσω το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project: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“Context-Aware Restaurant Recommendation System” </a:t>
            </a:r>
            <a:endParaRPr lang="el-G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με τελικό στόχο:</a:t>
            </a:r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τη δημιουργία ενός </a:t>
            </a:r>
            <a:r>
              <a:rPr lang="el-G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επιτυχημένου μεξικάνικου </a:t>
            </a:r>
            <a:r>
              <a:rPr lang="el-G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concept</a:t>
            </a:r>
            <a:r>
              <a:rPr lang="el-G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l-G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restaurant</a:t>
            </a:r>
            <a:r>
              <a:rPr lang="el-G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l-G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tacos</a:t>
            </a:r>
            <a:r>
              <a:rPr lang="el-G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</a:t>
            </a:r>
            <a:r>
              <a:rPr lang="el-G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cocktails</a:t>
            </a:r>
            <a:r>
              <a:rPr lang="el-G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βασισμένου σε δεδομένα.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και συγκεκριμένα η ομάδα αναλυτών των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taco bello</a:t>
            </a:r>
            <a:endParaRPr lang="el-G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DB84-9382-4DFA-98D4-0ACAD612197D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74468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Σήμερα, όταν ένας χρήστης αναζητά ένα εστιατόριο,</a:t>
            </a:r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βλέπει κυρίως λίστες βασισμένες σε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ratings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ή δημοτικότητα.</a:t>
            </a: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Όμως αυτό δημιουργεί ένα βασικό πρόβλημα:</a:t>
            </a:r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οι προτάσεις δεν είναι πραγματικά προσωποποιημένες</a:t>
            </a: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Δεν λαμβάνονται υπόψη:</a:t>
            </a:r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το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budget</a:t>
            </a:r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οι προτιμήσεις</a:t>
            </a:r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ο τρόπος ζωής</a:t>
            </a: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με αποτέλεσμα μια μη βελτιστοποιημένη εμπειρία για τον χρήστη.</a:t>
            </a:r>
          </a:p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DB84-9382-4DFA-98D4-0ACAD612197D}" type="slidenum">
              <a:rPr lang="el-GR" smtClean="0"/>
              <a:t>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223428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Ο στόχος μας είναι:</a:t>
            </a:r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✔️ να αναλύσουμε δεδομένα χρηστών και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restaurants</a:t>
            </a:r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✔️ να κατανοήσουμε τι επηρεάζει την ικανοποίηση</a:t>
            </a:r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✔️ και να χρησιμοποιήσουμε αυτά τα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endParaRPr lang="el-G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για να σχεδιάσουμε ένα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concept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που ταιριάζει απόλυτα στην αγορά</a:t>
            </a:r>
          </a:p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DB84-9382-4DFA-98D4-0ACAD612197D}" type="slidenum">
              <a:rPr lang="el-GR" smtClean="0"/>
              <a:t>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576677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Χρησιμοποιήσαμε το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dataset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Restaurant</a:t>
            </a:r>
            <a:r>
              <a:rPr lang="el-G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Consumer Data </a:t>
            </a:r>
            <a:r>
              <a:rPr lang="el-G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με διατροφικές συνήθειες  καταναλωτών με έμφαση στους φοιτητές</a:t>
            </a:r>
            <a:endParaRPr lang="el-G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Το οποίο περιλαμβάνει:</a:t>
            </a:r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προφίλ χρηστών (ηλικία, με τι ασχολείται, αν είναι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single 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κ.α.)</a:t>
            </a:r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χαρακτηριστικά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restaurants</a:t>
            </a:r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ratings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των ίδιων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restaurants</a:t>
            </a:r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και που βρίσκονται </a:t>
            </a:r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άρα έχουμε πλήρη εικόνα τόσο της ζήτησης όσο και της προσφοράς</a:t>
            </a:r>
          </a:p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DB84-9382-4DFA-98D4-0ACAD612197D}" type="slidenum">
              <a:rPr lang="el-GR" smtClean="0"/>
              <a:t>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52083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Η ανάλυση της αγοράς αναδεικνύει το </a:t>
            </a:r>
            <a:r>
              <a:rPr lang="el-G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San</a:t>
            </a:r>
            <a:r>
              <a:rPr lang="el-G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l-G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Luis</a:t>
            </a:r>
            <a:r>
              <a:rPr lang="el-G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l-G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Potosí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ως την πλέον ελκυστική περιοχή, βάσει της συγκέντρωσης καταναλωτών, των προτιμήσεων σε μεξικανική κουζίνα και των δημογραφικών χαρακτηριστικών του κοινού-στόχου. Τα ευρήματα υποστηρίζουν τη στρατηγική επιλογή τοποθεσίας και επιβεβαιώνουν τη δυναμική της αγοράς.</a:t>
            </a:r>
          </a:p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DB84-9382-4DFA-98D4-0ACAD612197D}" type="slidenum">
              <a:rPr lang="el-GR" smtClean="0"/>
              <a:t>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734419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Η ανάλυση του ανταγωνισμού καταδεικνύει το </a:t>
            </a:r>
            <a:r>
              <a:rPr lang="el-G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San</a:t>
            </a:r>
            <a:r>
              <a:rPr lang="el-G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l-G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Luis</a:t>
            </a:r>
            <a:r>
              <a:rPr lang="el-G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l-G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Potosí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ως τη βέλτιστη τοποθεσία εισόδου στην αγορά, συνδυάζοντας υψηλή καταναλωτική ζήτηση, ισχυρή παρουσία επιχειρήσεων εστίασης και σημαντικές προοπτικές ανάπτυξης στον κλάδο τροφίμων και ποτών.</a:t>
            </a:r>
          </a:p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DB84-9382-4DFA-98D4-0ACAD612197D}" type="slidenum">
              <a:rPr lang="el-GR" smtClean="0"/>
              <a:t>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14445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Αναλύοντας τους χρήστες:</a:t>
            </a:r>
          </a:p>
          <a:p>
            <a:r>
              <a:rPr lang="el-GR" dirty="0"/>
              <a:t>• η πλειοψηφία κινείται σε </a:t>
            </a:r>
            <a:r>
              <a:rPr lang="el-GR" dirty="0" err="1"/>
              <a:t>medium</a:t>
            </a:r>
            <a:r>
              <a:rPr lang="el-GR" dirty="0"/>
              <a:t> </a:t>
            </a:r>
            <a:r>
              <a:rPr lang="el-GR" dirty="0" err="1"/>
              <a:t>budget</a:t>
            </a:r>
            <a:endParaRPr lang="el-GR" dirty="0"/>
          </a:p>
          <a:p>
            <a:r>
              <a:rPr lang="el-GR" dirty="0"/>
              <a:t>• οι προτιμήσεις διαφέρουν σημαντικά</a:t>
            </a:r>
          </a:p>
          <a:p>
            <a:r>
              <a:rPr lang="el-GR" dirty="0"/>
              <a:t>• το </a:t>
            </a:r>
            <a:r>
              <a:rPr lang="el-GR" dirty="0" err="1"/>
              <a:t>lifestyle</a:t>
            </a:r>
            <a:r>
              <a:rPr lang="el-GR" dirty="0"/>
              <a:t> επηρεάζει έντονα τις επιλογές</a:t>
            </a:r>
          </a:p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DB84-9382-4DFA-98D4-0ACAD612197D}" type="slidenum">
              <a:rPr lang="el-GR" smtClean="0"/>
              <a:t>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9157889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Από την πλευρά των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restaurants:</a:t>
            </a:r>
            <a:endParaRPr lang="el-G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το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price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range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επηρεάζει τη ζήτηση</a:t>
            </a:r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η κουζίνα είναι βασικός παράγοντας επιλογής</a:t>
            </a:r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οι υπηρεσίες ενισχύουν την εμπειρία</a:t>
            </a: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δηλαδή, η αξία δεν είναι μόνο στο φαγητό αλλά στο συνολικό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experience</a:t>
            </a:r>
            <a:endParaRPr lang="el-G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DB84-9382-4DFA-98D4-0ACAD612197D}" type="slidenum">
              <a:rPr lang="el-GR" smtClean="0"/>
              <a:t>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6157425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Το πιο σημαντικό εύρημα είναι το εξής:</a:t>
            </a: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όταν υπάρχει σωστό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matching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μεταξύ χρήστη και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restaurant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τα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ratings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είναι υψηλότερα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matching 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στο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budget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matching 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στις προτιμήσεις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matching 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στο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lifestyle</a:t>
            </a:r>
            <a:endParaRPr lang="el-G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οδηγούν σε καλύτερη εμπειρία</a:t>
            </a:r>
          </a:p>
          <a:p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l-G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DB84-9382-4DFA-98D4-0ACAD612197D}" type="slidenum">
              <a:rPr lang="el-GR" smtClean="0"/>
              <a:t>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849332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Το πιο σημαντικό εύρημα είναι το εξής:</a:t>
            </a: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όταν υπάρχει σωστό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matching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μεταξύ χρήστη και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restaurant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τα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ratings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είναι υψηλότερα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matching 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στο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budget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matching 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στις προτιμήσεις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matching 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στο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lifestyle</a:t>
            </a:r>
            <a:endParaRPr lang="el-G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οδηγούν σε καλύτερη εμπειρία</a:t>
            </a:r>
          </a:p>
          <a:p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l-G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DB84-9382-4DFA-98D4-0ACAD612197D}" type="slidenum">
              <a:rPr lang="el-GR" smtClean="0"/>
              <a:t>10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657085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Με βάση αυτά τα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insights:</a:t>
            </a:r>
            <a:endParaRPr lang="el-G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προτείνουμε τη δημιουργία ενός</a:t>
            </a:r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l-G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Mexican</a:t>
            </a:r>
            <a:r>
              <a:rPr lang="el-G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l-G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Street</a:t>
            </a:r>
            <a:r>
              <a:rPr lang="el-G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l-G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Food</a:t>
            </a:r>
            <a:r>
              <a:rPr lang="el-G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</a:t>
            </a:r>
            <a:r>
              <a:rPr lang="el-G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Cocktail</a:t>
            </a:r>
            <a:r>
              <a:rPr lang="el-G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l-G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Bar</a:t>
            </a:r>
            <a:endParaRPr lang="el-G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tacos</a:t>
            </a:r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cocktails</a:t>
            </a:r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social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εμπειρία</a:t>
            </a: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ένα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concept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που συνδυάζει φαγητό και διασκέδαση</a:t>
            </a:r>
          </a:p>
          <a:p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l-G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DB84-9382-4DFA-98D4-0ACAD612197D}" type="slidenum">
              <a:rPr lang="el-GR" smtClean="0"/>
              <a:t>11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751021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Με βάση την ανάλυση δεδομένων, προχωρήσαμε και σε επιλογή τοποθεσίας.</a:t>
            </a: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Καταλήξαμε σε τρεις βασικές περιοχές:</a:t>
            </a:r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Κουερναβάκα</a:t>
            </a:r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Σολεδάδ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Ντε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Γκρατσιάνο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Σάντσες</a:t>
            </a:r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Σιουντάντ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Βικτορία</a:t>
            </a:r>
            <a:endParaRPr lang="el-G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Οι περιοχές αυτές επιλέχθηκαν γιατί έχουν:</a:t>
            </a:r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κοινό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medium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budget</a:t>
            </a:r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έντονη κοινωνική δραστηριότητα</a:t>
            </a:r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DB84-9382-4DFA-98D4-0ACAD612197D}" type="slidenum">
              <a:rPr lang="el-GR" smtClean="0"/>
              <a:t>12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136856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Για να πάρουμε απόφαση, δημιουργήσαμε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scoring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Το αποτέλεσμα έδειξε ότι:</a:t>
            </a: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η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Σολεδάδ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Ντε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Γκρατσιάνο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Σάντσες,</a:t>
            </a:r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καθώς συνδυάζει υψηλή ζήτηση και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lifestyle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fit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DB84-9382-4DFA-98D4-0ACAD612197D}" type="slidenum">
              <a:rPr lang="el-GR" smtClean="0"/>
              <a:t>13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552353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Η βασική μας αξία είναι:</a:t>
            </a: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δεν προτείνουμε απλά τα καλύτερα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restaurants</a:t>
            </a:r>
            <a:endParaRPr lang="el-G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προτείνουμε τα </a:t>
            </a:r>
            <a:r>
              <a:rPr lang="el-G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κατάλληλα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για τον συγκεκριμένο χρήστη</a:t>
            </a:r>
          </a:p>
          <a:p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l-G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DB84-9382-4DFA-98D4-0ACAD612197D}" type="slidenum">
              <a:rPr lang="el-GR" smtClean="0"/>
              <a:t>14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811774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Αυτό δημιουργεί αξία:</a:t>
            </a: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Για το κατάστημα:</a:t>
            </a:r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περισσότερους πελάτες</a:t>
            </a:r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καλύτερα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ratings</a:t>
            </a:r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επαναλαμβανόμενες επισκέψεις</a:t>
            </a: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Για την αγορά:</a:t>
            </a:r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διαφοροποίηση</a:t>
            </a:r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καλύτερο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positioning</a:t>
            </a:r>
            <a:endParaRPr lang="el-G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DB84-9382-4DFA-98D4-0ACAD612197D}" type="slidenum">
              <a:rPr lang="el-GR" smtClean="0"/>
              <a:t>15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108400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Συνοψίζοντας:</a:t>
            </a: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το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είναι κρίσιμο</a:t>
            </a:r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το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matching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οδηγεί στην επιτυχία</a:t>
            </a:r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τα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καθορίζουν τη στρατηγική</a:t>
            </a: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και το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concept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tacos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cocktails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καλύπτει αυτό το κενό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=====================================</a:t>
            </a: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Κλείνοντας:</a:t>
            </a: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Δεν σχεδιάζουμε ένα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restaurant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στην τύχη</a:t>
            </a: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σχεδιάζουμε ένα επιτυχημένο </a:t>
            </a:r>
            <a:r>
              <a:rPr lang="el-G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concept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βασισμένο σε δεδομένα</a:t>
            </a: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Ευχαριστώ πολύ 🙏</a:t>
            </a:r>
          </a:p>
          <a:p>
            <a:endParaRPr lang="el-G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l-G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DB84-9382-4DFA-98D4-0ACAD612197D}" type="slidenum">
              <a:rPr lang="el-GR" smtClean="0"/>
              <a:t>16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56882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2"/>
          <p:cNvSpPr/>
          <p:nvPr/>
        </p:nvSpPr>
        <p:spPr>
          <a:xfrm>
            <a:off x="-8467" y="-16933"/>
            <a:ext cx="8754534" cy="6451600"/>
          </a:xfrm>
          <a:custGeom>
            <a:avLst/>
            <a:gdLst/>
            <a:ahLst/>
            <a:cxnLst/>
            <a:rect l="l" t="t" r="r" b="b"/>
            <a:pathLst>
              <a:path w="8754534" h="6451600">
                <a:moveTo>
                  <a:pt x="8373534" y="0"/>
                </a:moveTo>
                <a:lnTo>
                  <a:pt x="8754534" y="5994400"/>
                </a:lnTo>
                <a:lnTo>
                  <a:pt x="0" y="6451600"/>
                </a:lnTo>
                <a:lnTo>
                  <a:pt x="0" y="0"/>
                </a:lnTo>
                <a:lnTo>
                  <a:pt x="8373534" y="0"/>
                </a:lnTo>
                <a:close/>
              </a:path>
            </a:pathLst>
          </a:cu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 22"/>
          <p:cNvSpPr/>
          <p:nvPr/>
        </p:nvSpPr>
        <p:spPr>
          <a:xfrm>
            <a:off x="-10379" y="4445000"/>
            <a:ext cx="8464695" cy="1715811"/>
          </a:xfrm>
          <a:custGeom>
            <a:avLst/>
            <a:gdLst/>
            <a:ahLst/>
            <a:cxnLst/>
            <a:rect l="l" t="t" r="r" b="b"/>
            <a:pathLst>
              <a:path w="8428428" h="1878553">
                <a:moveTo>
                  <a:pt x="0" y="438229"/>
                </a:moveTo>
                <a:lnTo>
                  <a:pt x="8343246" y="0"/>
                </a:lnTo>
                <a:lnTo>
                  <a:pt x="8428428" y="1424838"/>
                </a:lnTo>
                <a:lnTo>
                  <a:pt x="7515" y="1878553"/>
                </a:lnTo>
                <a:lnTo>
                  <a:pt x="0" y="438229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Freeform 28"/>
          <p:cNvSpPr/>
          <p:nvPr/>
        </p:nvSpPr>
        <p:spPr>
          <a:xfrm>
            <a:off x="-2864" y="0"/>
            <a:ext cx="5811235" cy="321615"/>
          </a:xfrm>
          <a:custGeom>
            <a:avLst/>
            <a:gdLst/>
            <a:ahLst/>
            <a:cxnLst/>
            <a:rect l="l" t="t" r="r" b="b"/>
            <a:pathLst>
              <a:path w="5811235" h="321615">
                <a:moveTo>
                  <a:pt x="0" y="0"/>
                </a:moveTo>
                <a:lnTo>
                  <a:pt x="5811235" y="0"/>
                </a:lnTo>
                <a:lnTo>
                  <a:pt x="1" y="321615"/>
                </a:lnTo>
                <a:cubicBezTo>
                  <a:pt x="1" y="214410"/>
                  <a:pt x="0" y="107205"/>
                  <a:pt x="0" y="0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 29"/>
          <p:cNvSpPr/>
          <p:nvPr/>
        </p:nvSpPr>
        <p:spPr>
          <a:xfrm rot="21420000">
            <a:off x="-170768" y="213023"/>
            <a:ext cx="8480534" cy="5746008"/>
          </a:xfrm>
          <a:custGeom>
            <a:avLst/>
            <a:gdLst/>
            <a:ahLst/>
            <a:cxnLst/>
            <a:rect l="l" t="t" r="r" b="b"/>
            <a:pathLst>
              <a:path w="11307378" h="5746008">
                <a:moveTo>
                  <a:pt x="11270997" y="0"/>
                </a:moveTo>
                <a:lnTo>
                  <a:pt x="11307378" y="5746008"/>
                </a:lnTo>
                <a:lnTo>
                  <a:pt x="1" y="574313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451416" y="668338"/>
            <a:ext cx="7533524" cy="2766528"/>
          </a:xfrm>
        </p:spPr>
        <p:txBody>
          <a:bodyPr anchor="b">
            <a:normAutofit/>
          </a:bodyPr>
          <a:lstStyle>
            <a:lvl1pPr algn="r">
              <a:defRPr sz="7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554462" y="3446830"/>
            <a:ext cx="7512060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669071" y="4714242"/>
            <a:ext cx="4607740" cy="942356"/>
          </a:xfrm>
        </p:spPr>
        <p:txBody>
          <a:bodyPr/>
          <a:lstStyle>
            <a:lvl1pPr algn="ctr">
              <a:defRPr sz="42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956048"/>
            <a:ext cx="2990088" cy="914400"/>
          </a:xfrm>
          <a:noFill/>
        </p:spPr>
        <p:txBody>
          <a:bodyPr wrap="square" rtlCol="0">
            <a:spAutoFit/>
          </a:bodyPr>
          <a:lstStyle>
            <a:lvl1pPr>
              <a:defRPr lang="en-US" sz="42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401518" y="3819948"/>
            <a:ext cx="680390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3" name="5-Point Star 32"/>
          <p:cNvSpPr/>
          <p:nvPr/>
        </p:nvSpPr>
        <p:spPr>
          <a:xfrm rot="21420000">
            <a:off x="3121951" y="5057183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69898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815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742267"/>
            <a:ext cx="7796030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76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7662" cy="1158140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2063396"/>
            <a:ext cx="3816536" cy="3311189"/>
          </a:xfrm>
        </p:spPr>
        <p:txBody>
          <a:bodyPr anchor="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2063396"/>
            <a:ext cx="3814904" cy="3311189"/>
          </a:xfrm>
        </p:spPr>
        <p:txBody>
          <a:bodyPr anchor="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998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6030" cy="1158140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569" y="2063396"/>
            <a:ext cx="3591317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861733"/>
            <a:ext cx="3816534" cy="2512852"/>
          </a:xfrm>
        </p:spPr>
        <p:txBody>
          <a:bodyPr anchor="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5340" y="2063396"/>
            <a:ext cx="359667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861733"/>
            <a:ext cx="3816535" cy="2512852"/>
          </a:xfrm>
        </p:spPr>
        <p:txBody>
          <a:bodyPr anchor="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996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03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97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685800"/>
            <a:ext cx="3095145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685801"/>
            <a:ext cx="4525781" cy="4688785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709053"/>
            <a:ext cx="3095146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412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440817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7740" y="1"/>
            <a:ext cx="3162641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709053"/>
            <a:ext cx="440817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615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Πανοραμική 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106333"/>
            <a:ext cx="7796031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685800"/>
            <a:ext cx="7794385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702923"/>
            <a:ext cx="7796046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920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Τίτλος και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77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106333"/>
            <a:ext cx="7796047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9924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Εισαγωγικά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685800"/>
            <a:ext cx="7143765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3610032"/>
            <a:ext cx="6500967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106334"/>
            <a:ext cx="779766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04280" y="8878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7147" y="290648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65848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Κάρτα ονόματ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723855"/>
            <a:ext cx="7796030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247468"/>
            <a:ext cx="7796030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9721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στήλε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116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Στήλη 3 εικόνω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2063396"/>
            <a:ext cx="2482596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4389288"/>
            <a:ext cx="2482596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2063396"/>
            <a:ext cx="2482596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8" y="4389286"/>
            <a:ext cx="2483655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2063394"/>
            <a:ext cx="2482596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4389284"/>
            <a:ext cx="2482596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263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2063396"/>
            <a:ext cx="7796030" cy="3311190"/>
          </a:xfrm>
        </p:spPr>
        <p:txBody>
          <a:bodyPr vert="eaVert" anchor="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101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685801"/>
            <a:ext cx="1698485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685801"/>
            <a:ext cx="5928323" cy="4688785"/>
          </a:xfrm>
        </p:spPr>
        <p:txBody>
          <a:bodyPr vert="eaVert" anchor="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67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771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1"/>
            <a:ext cx="9004013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063396"/>
            <a:ext cx="7797662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5757334"/>
            <a:ext cx="283845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5757334"/>
            <a:ext cx="412478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5757334"/>
            <a:ext cx="68039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142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  <p:sldLayoutId id="2147483858" r:id="rId12"/>
    <p:sldLayoutId id="2147483859" r:id="rId13"/>
    <p:sldLayoutId id="2147483860" r:id="rId14"/>
    <p:sldLayoutId id="2147483861" r:id="rId15"/>
    <p:sldLayoutId id="2147483862" r:id="rId16"/>
    <p:sldLayoutId id="2147483863" r:id="rId17"/>
    <p:sldLayoutId id="2147483864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1462306" y="198950"/>
            <a:ext cx="6666222" cy="3640891"/>
          </a:xfrm>
        </p:spPr>
        <p:txBody>
          <a:bodyPr>
            <a:normAutofit fontScale="90000"/>
          </a:bodyPr>
          <a:lstStyle/>
          <a:p>
            <a:r>
              <a:rPr dirty="0"/>
              <a:t>Context-Aware Restaurant Recommendation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21144" y="3740284"/>
            <a:ext cx="5740022" cy="958297"/>
          </a:xfrm>
        </p:spPr>
        <p:txBody>
          <a:bodyPr/>
          <a:lstStyle/>
          <a:p>
            <a:r>
              <a:rPr dirty="0"/>
              <a:t>Mexican Street Food &amp; Cocktail Bar (Data-Driven Concept)</a:t>
            </a:r>
          </a:p>
        </p:txBody>
      </p:sp>
      <p:sp>
        <p:nvSpPr>
          <p:cNvPr id="4" name="Ορθογώνιο 3">
            <a:extLst>
              <a:ext uri="{FF2B5EF4-FFF2-40B4-BE49-F238E27FC236}">
                <a16:creationId xmlns:a16="http://schemas.microsoft.com/office/drawing/2014/main" id="{D7C30E47-DBA8-EBF5-D184-B9653E616E61}"/>
              </a:ext>
            </a:extLst>
          </p:cNvPr>
          <p:cNvSpPr/>
          <p:nvPr/>
        </p:nvSpPr>
        <p:spPr>
          <a:xfrm>
            <a:off x="114541" y="4838605"/>
            <a:ext cx="2247659" cy="11430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Presenters: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Preslav Petrov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Antonios </a:t>
            </a:r>
            <a:r>
              <a:rPr lang="en-US" dirty="0" err="1"/>
              <a:t>Bourlis</a:t>
            </a:r>
            <a:endParaRPr lang="el-G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Restaurant recommendations are not truly personalized</a:t>
            </a:r>
          </a:p>
          <a:p>
            <a:r>
              <a:t>They ignore budget, lifestyle, and preferences</a:t>
            </a:r>
          </a:p>
          <a:p>
            <a:r>
              <a:t>This leads to a poor user experience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2686049" cy="1151965"/>
          </a:xfrm>
        </p:spPr>
        <p:txBody>
          <a:bodyPr/>
          <a:lstStyle/>
          <a:p>
            <a:r>
              <a:rPr dirty="0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1" y="1447801"/>
            <a:ext cx="6330812" cy="2133600"/>
          </a:xfrm>
        </p:spPr>
        <p:txBody>
          <a:bodyPr/>
          <a:lstStyle/>
          <a:p>
            <a:r>
              <a:rPr dirty="0"/>
              <a:t>Analyze users and restaurant data</a:t>
            </a:r>
          </a:p>
          <a:p>
            <a:r>
              <a:rPr dirty="0"/>
              <a:t>Identify key satisfaction drivers</a:t>
            </a:r>
          </a:p>
          <a:p>
            <a:r>
              <a:rPr dirty="0"/>
              <a:t>Design a data-driven restaurant concept</a:t>
            </a:r>
          </a:p>
        </p:txBody>
      </p:sp>
      <p:pic>
        <p:nvPicPr>
          <p:cNvPr id="7" name="Εικόνα 6">
            <a:extLst>
              <a:ext uri="{FF2B5EF4-FFF2-40B4-BE49-F238E27FC236}">
                <a16:creationId xmlns:a16="http://schemas.microsoft.com/office/drawing/2014/main" id="{4766A876-7EE4-567C-9EF0-58C8EFB4B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3552825"/>
            <a:ext cx="3352800" cy="20036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(data.world)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Restaurant &amp; Consumer dataset</a:t>
            </a:r>
          </a:p>
          <a:p>
            <a:r>
              <a:t>Includes user profiles and behaviors</a:t>
            </a:r>
          </a:p>
          <a:p>
            <a:r>
              <a:t>Includes restaurant features and ratings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8DBDE93-F379-49F3-9E5E-D4DC37D9B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1" y="304801"/>
            <a:ext cx="7797662" cy="533399"/>
          </a:xfrm>
        </p:spPr>
        <p:txBody>
          <a:bodyPr/>
          <a:lstStyle/>
          <a:p>
            <a:r>
              <a:rPr lang="en-US" dirty="0"/>
              <a:t>Data Dashboard - info</a:t>
            </a:r>
            <a:endParaRPr lang="el-GR" dirty="0"/>
          </a:p>
        </p:txBody>
      </p:sp>
      <p:pic>
        <p:nvPicPr>
          <p:cNvPr id="4" name="Εικόνα 3">
            <a:extLst>
              <a:ext uri="{FF2B5EF4-FFF2-40B4-BE49-F238E27FC236}">
                <a16:creationId xmlns:a16="http://schemas.microsoft.com/office/drawing/2014/main" id="{34A3E1C7-BD48-9C42-988A-8D2A093542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9" t="1702" r="1698" b="2966"/>
          <a:stretch>
            <a:fillRect/>
          </a:stretch>
        </p:blipFill>
        <p:spPr>
          <a:xfrm>
            <a:off x="228600" y="847725"/>
            <a:ext cx="8379701" cy="46655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07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1"/>
            <a:ext cx="5715000" cy="533400"/>
          </a:xfrm>
        </p:spPr>
        <p:txBody>
          <a:bodyPr/>
          <a:lstStyle/>
          <a:p>
            <a:r>
              <a:rPr sz="4000" dirty="0"/>
              <a:t>Data Dashboard</a:t>
            </a:r>
            <a:r>
              <a:rPr lang="el-GR" sz="4000" dirty="0"/>
              <a:t> - </a:t>
            </a:r>
            <a:r>
              <a:rPr lang="en-US" sz="4000" dirty="0"/>
              <a:t>info</a:t>
            </a:r>
            <a:endParaRPr sz="4000" dirty="0"/>
          </a:p>
        </p:txBody>
      </p:sp>
      <p:pic>
        <p:nvPicPr>
          <p:cNvPr id="4" name="Εικόνα 3">
            <a:extLst>
              <a:ext uri="{FF2B5EF4-FFF2-40B4-BE49-F238E27FC236}">
                <a16:creationId xmlns:a16="http://schemas.microsoft.com/office/drawing/2014/main" id="{24BDC9DF-5498-3A39-BFD2-F34F74E620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38" t="1655" r="1072" b="2348"/>
          <a:stretch>
            <a:fillRect/>
          </a:stretch>
        </p:blipFill>
        <p:spPr>
          <a:xfrm>
            <a:off x="152400" y="914401"/>
            <a:ext cx="8502869" cy="4648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3524249" cy="1151965"/>
          </a:xfrm>
        </p:spPr>
        <p:txBody>
          <a:bodyPr/>
          <a:lstStyle/>
          <a:p>
            <a:r>
              <a:rPr dirty="0"/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2063397"/>
            <a:ext cx="6267449" cy="2127604"/>
          </a:xfrm>
        </p:spPr>
        <p:txBody>
          <a:bodyPr/>
          <a:lstStyle/>
          <a:p>
            <a:r>
              <a:rPr dirty="0"/>
              <a:t>113 students → main target group</a:t>
            </a:r>
          </a:p>
          <a:p>
            <a:r>
              <a:rPr dirty="0"/>
              <a:t>Medium budget dominates (~69%)</a:t>
            </a:r>
          </a:p>
          <a:p>
            <a:r>
              <a:rPr dirty="0"/>
              <a:t>Mexican cuisine is most preferred</a:t>
            </a:r>
          </a:p>
          <a:p>
            <a:r>
              <a:rPr dirty="0"/>
              <a:t>Public transportation is widely used (~62%)</a:t>
            </a:r>
          </a:p>
        </p:txBody>
      </p:sp>
      <p:pic>
        <p:nvPicPr>
          <p:cNvPr id="7" name="Εικόνα 6">
            <a:extLst>
              <a:ext uri="{FF2B5EF4-FFF2-40B4-BE49-F238E27FC236}">
                <a16:creationId xmlns:a16="http://schemas.microsoft.com/office/drawing/2014/main" id="{A0E984B8-3DE6-8C22-1AF9-A2453AF1F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47800"/>
            <a:ext cx="2157714" cy="240539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304800"/>
            <a:ext cx="7414730" cy="1151965"/>
          </a:xfrm>
        </p:spPr>
        <p:txBody>
          <a:bodyPr/>
          <a:lstStyle/>
          <a:p>
            <a:r>
              <a:rPr sz="3600" dirty="0"/>
              <a:t>User Behavior</a:t>
            </a:r>
            <a:r>
              <a:rPr lang="en-US" sz="3600" dirty="0"/>
              <a:t> / Restaurant insights</a:t>
            </a:r>
            <a:endParaRPr sz="3600" dirty="0"/>
          </a:p>
        </p:txBody>
      </p:sp>
      <p:pic>
        <p:nvPicPr>
          <p:cNvPr id="11" name="Εικόνα 10">
            <a:extLst>
              <a:ext uri="{FF2B5EF4-FFF2-40B4-BE49-F238E27FC236}">
                <a16:creationId xmlns:a16="http://schemas.microsoft.com/office/drawing/2014/main" id="{745F020C-E65B-1DE9-D2A2-B4D50252B0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091" r="34315"/>
          <a:stretch/>
        </p:blipFill>
        <p:spPr>
          <a:xfrm>
            <a:off x="392665" y="1219200"/>
            <a:ext cx="7836935" cy="3962400"/>
          </a:xfrm>
          <a:prstGeom prst="rect">
            <a:avLst/>
          </a:prstGeom>
        </p:spPr>
      </p:pic>
      <p:pic>
        <p:nvPicPr>
          <p:cNvPr id="4" name="Εικόνα 3">
            <a:extLst>
              <a:ext uri="{FF2B5EF4-FFF2-40B4-BE49-F238E27FC236}">
                <a16:creationId xmlns:a16="http://schemas.microsoft.com/office/drawing/2014/main" id="{87738311-492B-43D8-B008-FA0E9D2802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3822" y="3505200"/>
            <a:ext cx="3874535" cy="1661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Recommendation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2063396"/>
            <a:ext cx="7029449" cy="3311189"/>
          </a:xfrm>
        </p:spPr>
        <p:txBody>
          <a:bodyPr/>
          <a:lstStyle/>
          <a:p>
            <a:r>
              <a:rPr dirty="0"/>
              <a:t>Input: user data (location, budget, preferences)</a:t>
            </a:r>
          </a:p>
          <a:p>
            <a:r>
              <a:rPr dirty="0"/>
              <a:t>Processing: hybrid filtering (content + collaborative)</a:t>
            </a:r>
          </a:p>
          <a:p>
            <a:r>
              <a:rPr dirty="0"/>
              <a:t>Scoring and ranking model</a:t>
            </a:r>
          </a:p>
          <a:p>
            <a:r>
              <a:rPr dirty="0"/>
              <a:t>Output: personalized restaurant recommendations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09600"/>
            <a:ext cx="3124200" cy="1151965"/>
          </a:xfrm>
        </p:spPr>
        <p:txBody>
          <a:bodyPr/>
          <a:lstStyle/>
          <a:p>
            <a:r>
              <a:rPr dirty="0"/>
              <a:t>Key Finding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2063397"/>
            <a:ext cx="7797662" cy="1213204"/>
          </a:xfrm>
        </p:spPr>
        <p:txBody>
          <a:bodyPr>
            <a:normAutofit fontScale="85000" lnSpcReduction="10000"/>
          </a:bodyPr>
          <a:lstStyle/>
          <a:p>
            <a:r>
              <a:rPr dirty="0"/>
              <a:t>Matching users with restaurants increases ratings</a:t>
            </a:r>
          </a:p>
          <a:p>
            <a:r>
              <a:rPr dirty="0"/>
              <a:t>Match based on budget, lifestyle, and preferences</a:t>
            </a:r>
          </a:p>
          <a:p>
            <a:r>
              <a:rPr dirty="0"/>
              <a:t>Better matching leads to better experience</a:t>
            </a:r>
          </a:p>
        </p:txBody>
      </p:sp>
      <p:pic>
        <p:nvPicPr>
          <p:cNvPr id="7" name="Εικόνα 6">
            <a:extLst>
              <a:ext uri="{FF2B5EF4-FFF2-40B4-BE49-F238E27FC236}">
                <a16:creationId xmlns:a16="http://schemas.microsoft.com/office/drawing/2014/main" id="{B22B462A-226A-E831-7501-026D3C769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3429000"/>
            <a:ext cx="2881779" cy="20143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4514849" cy="1151965"/>
          </a:xfrm>
        </p:spPr>
        <p:txBody>
          <a:bodyPr/>
          <a:lstStyle/>
          <a:p>
            <a:r>
              <a:rPr dirty="0"/>
              <a:t>Business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Mexican Street Food &amp; Cocktail Bar</a:t>
            </a:r>
          </a:p>
          <a:p>
            <a:r>
              <a:rPr dirty="0"/>
              <a:t>Focus on tacos and cocktails</a:t>
            </a:r>
          </a:p>
          <a:p>
            <a:r>
              <a:rPr dirty="0"/>
              <a:t>Social and interactive experience</a:t>
            </a:r>
          </a:p>
        </p:txBody>
      </p:sp>
      <p:pic>
        <p:nvPicPr>
          <p:cNvPr id="7" name="Εικόνα 6">
            <a:extLst>
              <a:ext uri="{FF2B5EF4-FFF2-40B4-BE49-F238E27FC236}">
                <a16:creationId xmlns:a16="http://schemas.microsoft.com/office/drawing/2014/main" id="{195C37F3-AFAE-0833-43E3-0C94E7E0D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900" y="1026527"/>
            <a:ext cx="2705478" cy="184810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729" y="443037"/>
            <a:ext cx="7797662" cy="623763"/>
          </a:xfrm>
        </p:spPr>
        <p:txBody>
          <a:bodyPr/>
          <a:lstStyle/>
          <a:p>
            <a:pPr algn="ctr"/>
            <a:r>
              <a:rPr dirty="0"/>
              <a:t>Location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88729" y="1110697"/>
            <a:ext cx="2042503" cy="489503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CuernavACa</a:t>
            </a:r>
            <a:r>
              <a:rPr lang="en-US" dirty="0"/>
              <a:t>                          </a:t>
            </a:r>
            <a:endParaRPr dirty="0"/>
          </a:p>
        </p:txBody>
      </p:sp>
      <p:pic>
        <p:nvPicPr>
          <p:cNvPr id="8" name="Θέση περιεχομένου 7">
            <a:extLst>
              <a:ext uri="{FF2B5EF4-FFF2-40B4-BE49-F238E27FC236}">
                <a16:creationId xmlns:a16="http://schemas.microsoft.com/office/drawing/2014/main" id="{3F76BE6F-D85A-445D-434E-D6790B6DC5B4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179204" y="1546992"/>
            <a:ext cx="2747963" cy="18820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03470DB-42CC-8387-AD2A-9445C6E3E962}"/>
              </a:ext>
            </a:extLst>
          </p:cNvPr>
          <p:cNvSpPr txBox="1"/>
          <p:nvPr/>
        </p:nvSpPr>
        <p:spPr>
          <a:xfrm>
            <a:off x="6912054" y="1103314"/>
            <a:ext cx="1752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SAN LUIS POTOSI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786321-18D5-F782-41B7-1323AADD3478}"/>
              </a:ext>
            </a:extLst>
          </p:cNvPr>
          <p:cNvSpPr txBox="1"/>
          <p:nvPr/>
        </p:nvSpPr>
        <p:spPr>
          <a:xfrm>
            <a:off x="3241607" y="3616567"/>
            <a:ext cx="18637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CIUDAD VICTORIA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5" name="Εικόνα 14">
            <a:extLst>
              <a:ext uri="{FF2B5EF4-FFF2-40B4-BE49-F238E27FC236}">
                <a16:creationId xmlns:a16="http://schemas.microsoft.com/office/drawing/2014/main" id="{9C96908E-1C4E-8DF2-EDF8-0239E0B4F0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1467109"/>
            <a:ext cx="2855952" cy="2028272"/>
          </a:xfrm>
          <a:prstGeom prst="rect">
            <a:avLst/>
          </a:prstGeom>
        </p:spPr>
      </p:pic>
      <p:pic>
        <p:nvPicPr>
          <p:cNvPr id="17" name="Εικόνα 16">
            <a:extLst>
              <a:ext uri="{FF2B5EF4-FFF2-40B4-BE49-F238E27FC236}">
                <a16:creationId xmlns:a16="http://schemas.microsoft.com/office/drawing/2014/main" id="{5E345788-5D86-03A5-6E4A-BB600DB6BB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6885" y="4040132"/>
            <a:ext cx="2855953" cy="2172133"/>
          </a:xfrm>
          <a:prstGeom prst="rect">
            <a:avLst/>
          </a:prstGeom>
        </p:spPr>
      </p:pic>
      <p:pic>
        <p:nvPicPr>
          <p:cNvPr id="19" name="Εικόνα 18">
            <a:extLst>
              <a:ext uri="{FF2B5EF4-FFF2-40B4-BE49-F238E27FC236}">
                <a16:creationId xmlns:a16="http://schemas.microsoft.com/office/drawing/2014/main" id="{1BFAB106-1A05-EC6B-EFA1-12300EBED8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6713" y="1530589"/>
            <a:ext cx="2196296" cy="17010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387" y="455716"/>
            <a:ext cx="3378062" cy="1151965"/>
          </a:xfrm>
        </p:spPr>
        <p:txBody>
          <a:bodyPr/>
          <a:lstStyle/>
          <a:p>
            <a:r>
              <a:rPr lang="en-US" sz="3600" dirty="0"/>
              <a:t>Best Location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CE55BD-B988-392E-1A1C-907872B85935}"/>
              </a:ext>
            </a:extLst>
          </p:cNvPr>
          <p:cNvSpPr txBox="1"/>
          <p:nvPr/>
        </p:nvSpPr>
        <p:spPr>
          <a:xfrm>
            <a:off x="2133600" y="4267200"/>
            <a:ext cx="4191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Best balance of demand and lifestyle fit</a:t>
            </a:r>
          </a:p>
        </p:txBody>
      </p: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7E69400E-36BB-4D3B-AB7C-BFCF032EC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003" y="1176381"/>
            <a:ext cx="4352807" cy="2938418"/>
          </a:xfrm>
          <a:prstGeom prst="rect">
            <a:avLst/>
          </a:prstGeom>
        </p:spPr>
      </p:pic>
      <p:pic>
        <p:nvPicPr>
          <p:cNvPr id="10" name="Εικόνα 9">
            <a:extLst>
              <a:ext uri="{FF2B5EF4-FFF2-40B4-BE49-F238E27FC236}">
                <a16:creationId xmlns:a16="http://schemas.microsoft.com/office/drawing/2014/main" id="{B6D3E9B2-8EBC-46D7-A81A-96E08D2A1F1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r="2089" b="6075"/>
          <a:stretch/>
        </p:blipFill>
        <p:spPr>
          <a:xfrm>
            <a:off x="222387" y="1219200"/>
            <a:ext cx="3972891" cy="28955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3733800"/>
            <a:ext cx="7797662" cy="1640785"/>
          </a:xfrm>
        </p:spPr>
        <p:txBody>
          <a:bodyPr/>
          <a:lstStyle/>
          <a:p>
            <a:r>
              <a:rPr dirty="0"/>
              <a:t>Not the best-rated restaurant</a:t>
            </a:r>
          </a:p>
          <a:p>
            <a:r>
              <a:rPr dirty="0"/>
              <a:t>But the most suitable for each user</a:t>
            </a:r>
          </a:p>
          <a:p>
            <a:r>
              <a:rPr dirty="0"/>
              <a:t>Highly personalized experience</a:t>
            </a:r>
          </a:p>
        </p:txBody>
      </p:sp>
      <p:pic>
        <p:nvPicPr>
          <p:cNvPr id="9" name="Εικόνα 8">
            <a:extLst>
              <a:ext uri="{FF2B5EF4-FFF2-40B4-BE49-F238E27FC236}">
                <a16:creationId xmlns:a16="http://schemas.microsoft.com/office/drawing/2014/main" id="{96E0A6FA-44F9-BD5C-6AD6-FF580BF1E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0"/>
            <a:ext cx="6335009" cy="3562847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Increase number of customers</a:t>
            </a:r>
          </a:p>
          <a:p>
            <a:r>
              <a:rPr dirty="0"/>
              <a:t>Improve ratings</a:t>
            </a:r>
          </a:p>
          <a:p>
            <a:r>
              <a:rPr dirty="0"/>
              <a:t>Customer loyalty</a:t>
            </a:r>
          </a:p>
          <a:p>
            <a:r>
              <a:rPr dirty="0"/>
              <a:t>Differentiate in the market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1" y="2971800"/>
            <a:ext cx="6324600" cy="2438401"/>
          </a:xfrm>
        </p:spPr>
        <p:txBody>
          <a:bodyPr>
            <a:normAutofit/>
          </a:bodyPr>
          <a:lstStyle/>
          <a:p>
            <a:r>
              <a:rPr lang="en-US" dirty="0"/>
              <a:t>Context-aware recommendations improve decisions</a:t>
            </a:r>
          </a:p>
          <a:p>
            <a:r>
              <a:rPr lang="en-US" dirty="0"/>
              <a:t>Data drives business strategy</a:t>
            </a:r>
          </a:p>
          <a:p>
            <a:r>
              <a:rPr lang="en-US" dirty="0"/>
              <a:t>The concept fits real market demand</a:t>
            </a:r>
          </a:p>
        </p:txBody>
      </p:sp>
      <p:pic>
        <p:nvPicPr>
          <p:cNvPr id="9" name="Εικόνα 8">
            <a:extLst>
              <a:ext uri="{FF2B5EF4-FFF2-40B4-BE49-F238E27FC236}">
                <a16:creationId xmlns:a16="http://schemas.microsoft.com/office/drawing/2014/main" id="{06F44CAF-298C-56AE-BBC4-4EB359173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60495"/>
            <a:ext cx="7106642" cy="2358905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Κύρια εκδήλωση">
  <a:themeElements>
    <a:clrScheme name="Κύρια εκδήλωση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EE8011"/>
      </a:accent1>
      <a:accent2>
        <a:srgbClr val="CEC079"/>
      </a:accent2>
      <a:accent3>
        <a:srgbClr val="93A569"/>
      </a:accent3>
      <a:accent4>
        <a:srgbClr val="69A58B"/>
      </a:accent4>
      <a:accent5>
        <a:srgbClr val="6DAABD"/>
      </a:accent5>
      <a:accent6>
        <a:srgbClr val="B24A4B"/>
      </a:accent6>
      <a:hlink>
        <a:srgbClr val="EE8E11"/>
      </a:hlink>
      <a:folHlink>
        <a:srgbClr val="BFAE7F"/>
      </a:folHlink>
    </a:clrScheme>
    <a:fontScheme name="Κύρια εκδήλωση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Κύρια εκδήλωση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686B1E04-F35C-4AB5-985D-0C358CA11055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TM04033927[[fn=Κύρια εκδήλωση]]</Template>
  <TotalTime>337</TotalTime>
  <Words>934</Words>
  <Application>Microsoft Office PowerPoint</Application>
  <PresentationFormat>Προβολή στην οθόνη (4:3)</PresentationFormat>
  <Paragraphs>129</Paragraphs>
  <Slides>16</Slides>
  <Notes>16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3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16</vt:i4>
      </vt:variant>
    </vt:vector>
  </HeadingPairs>
  <TitlesOfParts>
    <vt:vector size="20" baseType="lpstr">
      <vt:lpstr>Arial</vt:lpstr>
      <vt:lpstr>Calibri</vt:lpstr>
      <vt:lpstr>Impact</vt:lpstr>
      <vt:lpstr>Κύρια εκδήλωση</vt:lpstr>
      <vt:lpstr>Context-Aware Restaurant Recommendation System</vt:lpstr>
      <vt:lpstr>Problem</vt:lpstr>
      <vt:lpstr>Objective</vt:lpstr>
      <vt:lpstr>Dataset (data.world)</vt:lpstr>
      <vt:lpstr>Data Dashboard - info</vt:lpstr>
      <vt:lpstr>Data Dashboard - info</vt:lpstr>
      <vt:lpstr>Key Insights</vt:lpstr>
      <vt:lpstr>User Behavior / Restaurant insights</vt:lpstr>
      <vt:lpstr>Recommendation System Architecture</vt:lpstr>
      <vt:lpstr>Key Finding</vt:lpstr>
      <vt:lpstr>Business Concept</vt:lpstr>
      <vt:lpstr>Location Strategy</vt:lpstr>
      <vt:lpstr>Best Location</vt:lpstr>
      <vt:lpstr>Παρουσίαση του PowerPoint</vt:lpstr>
      <vt:lpstr>Business Value</vt:lpstr>
      <vt:lpstr>Παρουσίαση του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Context-Aware Restaurant Recommendation System</dc:title>
  <dc:subject/>
  <dc:creator>ΑΝΤΩΝΙΟΣ ΜΠΟΥΡΛΗΣ</dc:creator>
  <cp:keywords/>
  <dc:description>generated using python-pptx</dc:description>
  <cp:lastModifiedBy>ΑΝΤΩΝΙΟΣ ΜΠΟΥΡΛΗΣ</cp:lastModifiedBy>
  <cp:revision>37</cp:revision>
  <dcterms:created xsi:type="dcterms:W3CDTF">2026-06-28T07:00:15Z</dcterms:created>
  <dcterms:modified xsi:type="dcterms:W3CDTF">2026-07-06T06:29:34Z</dcterms:modified>
  <cp:category/>
</cp:coreProperties>
</file>